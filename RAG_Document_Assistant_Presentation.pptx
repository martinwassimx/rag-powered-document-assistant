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94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Wassim" userId="569618d179dad95e" providerId="LiveId" clId="{2617C68C-B625-48BD-8E56-A2C688E6AB71}"/>
    <pc:docChg chg="modSld">
      <pc:chgData name="Martin Wassim" userId="569618d179dad95e" providerId="LiveId" clId="{2617C68C-B625-48BD-8E56-A2C688E6AB71}" dt="2026-09-20T17:25:10.822" v="2" actId="20577"/>
      <pc:docMkLst>
        <pc:docMk/>
      </pc:docMkLst>
      <pc:sldChg chg="modSp mod">
        <pc:chgData name="Martin Wassim" userId="569618d179dad95e" providerId="LiveId" clId="{2617C68C-B625-48BD-8E56-A2C688E6AB71}" dt="2026-09-20T17:25:10.822" v="2" actId="20577"/>
        <pc:sldMkLst>
          <pc:docMk/>
          <pc:sldMk cId="0" sldId="270"/>
        </pc:sldMkLst>
        <pc:spChg chg="mod">
          <ac:chgData name="Martin Wassim" userId="569618d179dad95e" providerId="LiveId" clId="{2617C68C-B625-48BD-8E56-A2C688E6AB71}" dt="2026-09-20T17:25:10.822" v="2" actId="20577"/>
          <ac:spMkLst>
            <pc:docMk/>
            <pc:sldMk cId="0" sldId="270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73152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8FAFC"/>
                </a:solidFill>
              </a:defRPr>
            </a:pPr>
            <a:r>
              <a:t>RAG-Powered Document Assistant</a:t>
            </a:r>
          </a:p>
          <a:p>
            <a:pPr>
              <a:spcBef>
                <a:spcPts val="800"/>
              </a:spcBef>
              <a:defRPr sz="2000">
                <a:solidFill>
                  <a:srgbClr val="38BDF8"/>
                </a:solidFill>
              </a:defRPr>
            </a:pPr>
            <a:r>
              <a:t>A Production-Grade, Privacy-First Academic Q&amp;A System with Page-Level Citations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97680"/>
            <a:ext cx="10725912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4480560"/>
            <a:ext cx="10268712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PROJECT OVERVIEW &amp; SPECIFICATION</a:t>
            </a:r>
          </a:p>
          <a:p>
            <a:r>
              <a:rPr sz="1300" b="1">
                <a:solidFill>
                  <a:srgbClr val="6366F1"/>
                </a:solidFill>
              </a:rPr>
              <a:t>Core Track: </a:t>
            </a:r>
            <a:r>
              <a:rPr sz="1300">
                <a:solidFill>
                  <a:srgbClr val="94A3B8"/>
                </a:solidFill>
              </a:rPr>
              <a:t>Text-Based Document Retrieval-Augmented Generation (RAG) with Citations</a:t>
            </a:r>
          </a:p>
          <a:p>
            <a:r>
              <a:rPr sz="1300" b="1">
                <a:solidFill>
                  <a:srgbClr val="6366F1"/>
                </a:solidFill>
              </a:rPr>
              <a:t>Architecture: </a:t>
            </a:r>
            <a:r>
              <a:rPr sz="1300">
                <a:solidFill>
                  <a:srgbClr val="94A3B8"/>
                </a:solidFill>
              </a:rPr>
              <a:t>FastAPI Backend + Sentence Transformers + Persistent ChromaDB + Local Ollama LLM + Streamlit UI</a:t>
            </a:r>
          </a:p>
          <a:p>
            <a:r>
              <a:rPr sz="1300" b="1">
                <a:solidFill>
                  <a:srgbClr val="6366F1"/>
                </a:solidFill>
              </a:rPr>
              <a:t>Privacy &amp; Rigor: </a:t>
            </a:r>
            <a:r>
              <a:rPr sz="1300">
                <a:solidFill>
                  <a:srgbClr val="94A3B8"/>
                </a:solidFill>
              </a:rPr>
              <a:t>100% Offline execution, Zero External API Keys, Hallucination-Resistant Grounding</a:t>
            </a:r>
          </a:p>
          <a:p>
            <a:r>
              <a:rPr sz="1300" b="1">
                <a:solidFill>
                  <a:srgbClr val="6366F1"/>
                </a:solidFill>
              </a:rPr>
              <a:t>Dataset: </a:t>
            </a:r>
            <a:r>
              <a:rPr sz="1300">
                <a:solidFill>
                  <a:srgbClr val="94A3B8"/>
                </a:solidFill>
              </a:rPr>
              <a:t>University CS Academic Course Handouts (15 Pages, 45 Chunks across 5 Domains)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BACKGROUND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Problem Statement &amp; Engineering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</a:defRPr>
            </a:pPr>
            <a:r>
              <a:t>The LLM Hallucination Trap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Standard LLMs generate confident yet entirely fabricated statements.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Zero verifiable references or page-level citations for technical claims.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Out-of-domain questions yield misleading answers rather than honest refusals.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Unusable for academic study where precision and attribution are mandatory.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Privacy &amp; Cloud Risks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Proprietary textbooks, student notes, and exams uploaded to cloud APIs risk data leakage.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Dependency on external APIs (OpenAI, Anthropic) introduces latency, quotas, and recurring subscription costs.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Network dependency renders assistants unavailable in air-gapped or offline exam environments.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ADE80"/>
                </a:solidFill>
              </a:defRPr>
            </a:pPr>
            <a:r>
              <a:t>The Grounded RAG Solution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Retrieval-Augmented Generation: Answers derived strictly from indexed course documents.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Granular Page Citations: Every claim tagged with document name and exact page number.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Zero-Hallucination Refusal: Explicit fallback when information is missing from documents.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100% Local Pipeline: ChromaDB + Ollama running entirely on host workstation.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1. Offline Ingestion &amp; Indexing Pipeline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8FAFC"/>
                </a:solidFill>
              </a:rPr>
              <a:t>Raw Educational PDFs: </a:t>
            </a:r>
            <a:r>
              <a:rPr sz="1300">
                <a:solidFill>
                  <a:srgbClr val="94A3B8"/>
                </a:solidFill>
              </a:rPr>
              <a:t>Source course handouts in data/raw/*.pdf (15 pages across 5 subjects).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8FAFC"/>
                </a:solidFill>
              </a:rPr>
              <a:t>PyPDF Extraction: </a:t>
            </a:r>
            <a:r>
              <a:rPr sz="1300">
                <a:solidFill>
                  <a:srgbClr val="94A3B8"/>
                </a:solidFill>
              </a:rPr>
              <a:t>Clean vector-stream text parsing with whitespace normalization.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8FAFC"/>
                </a:solidFill>
              </a:rPr>
              <a:t>Sliding Window Chunking: </a:t>
            </a:r>
            <a:r>
              <a:rPr sz="1300">
                <a:solidFill>
                  <a:srgbClr val="94A3B8"/>
                </a:solidFill>
              </a:rPr>
              <a:t>Chunk size 800 chars (~140 words) with 150 chars overlap.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8FAFC"/>
                </a:solidFill>
              </a:rPr>
              <a:t>Sentence Transformers: </a:t>
            </a:r>
            <a:r>
              <a:rPr sz="1300">
                <a:solidFill>
                  <a:srgbClr val="94A3B8"/>
                </a:solidFill>
              </a:rPr>
              <a:t>all-MiniLM-L6-v2 produces dense 384-dimensional semantic embeddings.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8FAFC"/>
                </a:solidFill>
              </a:rPr>
              <a:t>ChromaDB Persistence: </a:t>
            </a:r>
            <a:r>
              <a:rPr sz="1300">
                <a:solidFill>
                  <a:srgbClr val="94A3B8"/>
                </a:solidFill>
              </a:rPr>
              <a:t>Vectors and rich metadata saved to backend/data/vector_store/ for instant cold-starts.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2. Online Serving &amp; Inference Pipeline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8FAFC"/>
                </a:solidFill>
              </a:rPr>
              <a:t>Streamlit Chat UI: </a:t>
            </a:r>
            <a:r>
              <a:rPr sz="1300">
                <a:solidFill>
                  <a:srgbClr val="94A3B8"/>
                </a:solidFill>
              </a:rPr>
              <a:t>Student asks natural language questions, inspects interactive citation badges.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8FAFC"/>
                </a:solidFill>
              </a:rPr>
              <a:t>FastAPI Backend: </a:t>
            </a:r>
            <a:r>
              <a:rPr sz="1300">
                <a:solidFill>
                  <a:srgbClr val="94A3B8"/>
                </a:solidFill>
              </a:rPr>
              <a:t>High-performance async server validates input via Pydantic QueryRequest.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8FAFC"/>
                </a:solidFill>
              </a:rPr>
              <a:t>Retrieval Service: </a:t>
            </a:r>
            <a:r>
              <a:rPr sz="1300">
                <a:solidFill>
                  <a:srgbClr val="94A3B8"/>
                </a:solidFill>
              </a:rPr>
              <a:t>Encodes query, executes cosine similarity search in ChromaDB, fetches Top-K chunks.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8FAFC"/>
                </a:solidFill>
              </a:rPr>
              <a:t>Grounded Prompt Builder: </a:t>
            </a:r>
            <a:r>
              <a:rPr sz="1300">
                <a:solidFill>
                  <a:srgbClr val="94A3B8"/>
                </a:solidFill>
              </a:rPr>
              <a:t>Assembles strict system context, instructions, and source metadata.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8FAFC"/>
                </a:solidFill>
              </a:rPr>
              <a:t>Local Ollama Engine: </a:t>
            </a:r>
            <a:r>
              <a:rPr sz="1300">
                <a:solidFill>
                  <a:srgbClr val="94A3B8"/>
                </a:solidFill>
              </a:rPr>
              <a:t>Runs llama3:latest locally on GPU, generating grounded answers.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8FAFC"/>
                </a:solidFill>
              </a:rPr>
              <a:t>Structured JSON: </a:t>
            </a:r>
            <a:r>
              <a:rPr sz="1300">
                <a:solidFill>
                  <a:srgbClr val="94A3B8"/>
                </a:solidFill>
              </a:rPr>
              <a:t>Returns answer alongside verifiable {document, page, chunk_id, relevance_score}.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DATASET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Domain Corpus &amp; Document Specification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30175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Corpus Highlights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✔ 15 Total Academic Pages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✔ 45 Semantic Chunks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✔ 5 Foundational CS Topics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✔ Pure digital vector PDFs (100% extractable without OCR degradation)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✔ Carefully formatted definitions, theorems, and trade-off tables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645920"/>
            <a:ext cx="694944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09160" y="1828800"/>
            <a:ext cx="64922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</a:rPr>
              <a:t>CS101: Algorithms &amp; Complexity  </a:t>
            </a:r>
            <a:r>
              <a:rPr sz="1100">
                <a:solidFill>
                  <a:srgbClr val="38BDF8"/>
                </a:solidFill>
              </a:rPr>
              <a:t>[9 Chunks (3 Pages)]
</a:t>
            </a:r>
            <a:r>
              <a:rPr sz="1100">
                <a:solidFill>
                  <a:srgbClr val="94A3B8"/>
                </a:solidFill>
              </a:rPr>
              <a:t>Big-O, Omega, Theta, Master Theorem, Quicksort vs Mergesort, Hash Collisions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542032"/>
            <a:ext cx="694944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2724912"/>
            <a:ext cx="64922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</a:rPr>
              <a:t>CS102: Operating Systems  </a:t>
            </a:r>
            <a:r>
              <a:rPr sz="1100">
                <a:solidFill>
                  <a:srgbClr val="38BDF8"/>
                </a:solidFill>
              </a:rPr>
              <a:t>[9 Chunks (3 Pages)]
</a:t>
            </a:r>
            <a:r>
              <a:rPr sz="1100">
                <a:solidFill>
                  <a:srgbClr val="94A3B8"/>
                </a:solidFill>
              </a:rPr>
              <a:t>Process States, PCB, CPU Scheduling, Virtual Memory, TLB, Deadlock Coffman Conditions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438144"/>
            <a:ext cx="694944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3621024"/>
            <a:ext cx="64922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</a:rPr>
              <a:t>CS103: Database Management Systems  </a:t>
            </a:r>
            <a:r>
              <a:rPr sz="1100">
                <a:solidFill>
                  <a:srgbClr val="38BDF8"/>
                </a:solidFill>
              </a:rPr>
              <a:t>[9 Chunks (3 Pages)]
</a:t>
            </a:r>
            <a:r>
              <a:rPr sz="1100">
                <a:solidFill>
                  <a:srgbClr val="94A3B8"/>
                </a:solidFill>
              </a:rPr>
              <a:t>Relational Normalization (1NF-BCNF), ACID Properties, Isolation Levels, B+ Trees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4334256"/>
            <a:ext cx="694944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0" y="4517136"/>
            <a:ext cx="64922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</a:rPr>
              <a:t>CS104: Computer Networks  </a:t>
            </a:r>
            <a:r>
              <a:rPr sz="1100">
                <a:solidFill>
                  <a:srgbClr val="38BDF8"/>
                </a:solidFill>
              </a:rPr>
              <a:t>[9 Chunks (3 Pages)]
</a:t>
            </a:r>
            <a:r>
              <a:rPr sz="1100">
                <a:solidFill>
                  <a:srgbClr val="94A3B8"/>
                </a:solidFill>
              </a:rPr>
              <a:t>OSI vs TCP/IP, TCP 3-Way Handshake &amp; Teardown, Flow &amp; Congestion Control, DNS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5230368"/>
            <a:ext cx="694944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9160" y="5413248"/>
            <a:ext cx="64922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</a:rPr>
              <a:t>CS105: Python Concurrency  </a:t>
            </a:r>
            <a:r>
              <a:rPr sz="1100">
                <a:solidFill>
                  <a:srgbClr val="38BDF8"/>
                </a:solidFill>
              </a:rPr>
              <a:t>[9 Chunks (3 Pages)]
</a:t>
            </a:r>
            <a:r>
              <a:rPr sz="1100">
                <a:solidFill>
                  <a:srgbClr val="94A3B8"/>
                </a:solidFill>
              </a:rPr>
              <a:t>CPython GIL Mechanics, Threading vs Multiprocessing, Asyncio Event Loop, Race Conditions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Chunking Strategy &amp; Parameter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Chunk Size: 800 Chars</a:t>
            </a:r>
          </a:p>
          <a:p>
            <a:pPr>
              <a:spcAft>
                <a:spcPts val="1200"/>
              </a:spcAft>
              <a:defRPr sz="1300">
                <a:solidFill>
                  <a:srgbClr val="94A3B8"/>
                </a:solidFill>
              </a:defRPr>
            </a:pPr>
            <a:r>
              <a:t>• Captures complete semantic units: Academic definitions (e.g. 4 Coffman conditions) span 400-700 characters.</a:t>
            </a:r>
          </a:p>
          <a:p>
            <a:pPr>
              <a:spcAft>
                <a:spcPts val="1200"/>
              </a:spcAft>
              <a:defRPr sz="1300">
                <a:solidFill>
                  <a:srgbClr val="94A3B8"/>
                </a:solidFill>
              </a:defRPr>
            </a:pPr>
            <a:r>
              <a:t>• Avoids premature fragmentation that destroys technical nuance.</a:t>
            </a:r>
          </a:p>
          <a:p>
            <a:pPr>
              <a:spcAft>
                <a:spcPts val="1200"/>
              </a:spcAft>
              <a:defRPr sz="1300">
                <a:solidFill>
                  <a:srgbClr val="94A3B8"/>
                </a:solidFill>
              </a:defRPr>
            </a:pPr>
            <a:r>
              <a:t>• Translates to ~180 WordPiece tokens, fitting cleanly inside the model's 256-token limit.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Chunk Overlap: 150 Chars</a:t>
            </a:r>
          </a:p>
          <a:p>
            <a:pPr>
              <a:spcAft>
                <a:spcPts val="1200"/>
              </a:spcAft>
              <a:defRPr sz="1300">
                <a:solidFill>
                  <a:srgbClr val="94A3B8"/>
                </a:solidFill>
              </a:defRPr>
            </a:pPr>
            <a:r>
              <a:t>• Provides a 20% sliding window buffer across chunk boundaries.</a:t>
            </a:r>
          </a:p>
          <a:p>
            <a:pPr>
              <a:spcAft>
                <a:spcPts val="1200"/>
              </a:spcAft>
              <a:defRPr sz="1300">
                <a:solidFill>
                  <a:srgbClr val="94A3B8"/>
                </a:solidFill>
              </a:defRPr>
            </a:pPr>
            <a:r>
              <a:t>• Prevents boundary severance: Multi-sentence theorems that cross arbitrary cutoffs remain discoverable in both adjacent chunks.</a:t>
            </a:r>
          </a:p>
          <a:p>
            <a:pPr>
              <a:spcAft>
                <a:spcPts val="1200"/>
              </a:spcAft>
              <a:defRPr sz="1300">
                <a:solidFill>
                  <a:srgbClr val="94A3B8"/>
                </a:solidFill>
              </a:defRPr>
            </a:pPr>
            <a:r>
              <a:t>• Reduces retrieval false-negatives during vector proximity calculations.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ADE80"/>
                </a:solidFill>
              </a:defRPr>
            </a:pPr>
            <a:r>
              <a:t>Rich Metadata Schema</a:t>
            </a:r>
          </a:p>
          <a:p>
            <a:pPr>
              <a:spcAft>
                <a:spcPts val="1200"/>
              </a:spcAft>
              <a:defRPr sz="1300">
                <a:solidFill>
                  <a:srgbClr val="94A3B8"/>
                </a:solidFill>
              </a:defRPr>
            </a:pPr>
            <a:r>
              <a:t>• Granular Traceability: Each chunk retains document name, page number, and unique chunk_id.</a:t>
            </a:r>
          </a:p>
          <a:p>
            <a:pPr>
              <a:spcAft>
                <a:spcPts val="1200"/>
              </a:spcAft>
              <a:defRPr sz="1300">
                <a:solidFill>
                  <a:srgbClr val="94A3B8"/>
                </a:solidFill>
              </a:defRPr>
            </a:pPr>
            <a:r>
              <a:t>• Deterministic Citations: Allows the Streamlit UI to display verified page badges for every retrieved fact.</a:t>
            </a:r>
          </a:p>
          <a:p>
            <a:pPr>
              <a:spcAft>
                <a:spcPts val="1200"/>
              </a:spcAft>
              <a:defRPr sz="1300">
                <a:solidFill>
                  <a:srgbClr val="94A3B8"/>
                </a:solidFill>
              </a:defRPr>
            </a:pPr>
            <a:r>
              <a:t>• Zero Index Leakage: Fully persisted in ChromaDB metadata schema.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VECTOR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Embeddings &amp; ChromaDB Vector Store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Sentence Transformers (all-MiniLM-L6-v2)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8FAFC"/>
                </a:solidFill>
              </a:rPr>
              <a:t>Architecture: </a:t>
            </a:r>
            <a:r>
              <a:rPr sz="1300">
                <a:solidFill>
                  <a:srgbClr val="94A3B8"/>
                </a:solidFill>
              </a:rPr>
              <a:t>6-layer MiniLM transformer mapping sentences to a 384-dimensional dense semantic vector space.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8FAFC"/>
                </a:solidFill>
              </a:rPr>
              <a:t>Speed &amp; Efficiency: </a:t>
            </a:r>
            <a:r>
              <a:rPr sz="1300">
                <a:solidFill>
                  <a:srgbClr val="94A3B8"/>
                </a:solidFill>
              </a:rPr>
              <a:t>Ultra-lightweight (~80MB model weight), runs blazingly fast on both CPU and GPU.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8FAFC"/>
                </a:solidFill>
              </a:rPr>
              <a:t>Semantic Quality: </a:t>
            </a:r>
            <a:r>
              <a:rPr sz="1300">
                <a:solidFill>
                  <a:srgbClr val="94A3B8"/>
                </a:solidFill>
              </a:rPr>
              <a:t>Trained specifically for cosine-similarity semantic search, capturing nuanced technical terminology across Computer Science domains.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8FAFC"/>
                </a:solidFill>
              </a:rPr>
              <a:t>Deterministic Output: </a:t>
            </a:r>
            <a:r>
              <a:rPr sz="1300">
                <a:solidFill>
                  <a:srgbClr val="94A3B8"/>
                </a:solidFill>
              </a:rPr>
              <a:t>Identical embeddings for repeated queries ensure consistent retrieval ranks.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Persistent ChromaDB Engine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8FAFC"/>
                </a:solidFill>
              </a:rPr>
              <a:t>Storage Architecture: </a:t>
            </a:r>
            <a:r>
              <a:rPr sz="1300">
                <a:solidFill>
                  <a:srgbClr val="94A3B8"/>
                </a:solidFill>
              </a:rPr>
              <a:t>Persisted directly to disk at backend/data/vector_store/ using SQLite + HNSW index.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8FAFC"/>
                </a:solidFill>
              </a:rPr>
              <a:t>Zero Re-indexing Overhead: </a:t>
            </a:r>
            <a:r>
              <a:rPr sz="1300">
                <a:solidFill>
                  <a:srgbClr val="94A3B8"/>
                </a:solidFill>
              </a:rPr>
              <a:t>FastAPI loads the persistent collection at startup; no costly re-indexing on container or server restart.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8FAFC"/>
                </a:solidFill>
              </a:rPr>
              <a:t>Cosine Similarity Metric: </a:t>
            </a:r>
            <a:r>
              <a:rPr sz="1300">
                <a:solidFill>
                  <a:srgbClr val="94A3B8"/>
                </a:solidFill>
              </a:rPr>
              <a:t>Normalized vectors enable high-precision nearest-neighbor queries with sub-millisecond retrieval latency.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8FAFC"/>
                </a:solidFill>
              </a:rPr>
              <a:t>Collection Metadata: </a:t>
            </a:r>
            <a:r>
              <a:rPr sz="1300">
                <a:solidFill>
                  <a:srgbClr val="94A3B8"/>
                </a:solidFill>
              </a:rPr>
              <a:t>Maintains collection 'cs_course_documents' with 45 chunks and schema manifest.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PROMPT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Strict Grounding &amp; Prompt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50292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System Prompt Architecture</a:t>
            </a:r>
          </a:p>
          <a:p>
            <a:pPr>
              <a:defRPr sz="1200">
                <a:solidFill>
                  <a:srgbClr val="E2E8F0"/>
                </a:solidFill>
                <a:latin typeface="Consolas"/>
              </a:defRPr>
            </a:pPr>
            <a:r>
              <a:t>You are an expert academic assistant for Computer Science courses.</a:t>
            </a:r>
            <a:br/>
            <a:br/>
            <a:r>
              <a:t>STRICT GROUNDING RULES:</a:t>
            </a:r>
            <a:br/>
            <a:r>
              <a:t>1. Answer the question using ONLY the provided context passages below.</a:t>
            </a:r>
            <a:br/>
            <a:r>
              <a:t>2. Do NOT use prior knowledge or extrapolate beyond the text.</a:t>
            </a:r>
            <a:br/>
            <a:r>
              <a:t>3. For every factual claim, cite the document name and page number [Doc, Page X].</a:t>
            </a:r>
            <a:br/>
            <a:r>
              <a:t>4. If the context does not contain the answer, you MUST state verbatim:</a:t>
            </a:r>
            <a:br/>
            <a:r>
              <a:t>   "I could not find this information in the provided documents."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45920"/>
            <a:ext cx="493776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20840" y="1828800"/>
            <a:ext cx="44805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ADE80"/>
                </a:solidFill>
              </a:defRPr>
            </a:pPr>
            <a:r>
              <a:t>Key Engineering Outcomes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8FAFC"/>
                </a:solidFill>
              </a:rPr>
              <a:t>Elimination of Confabulation: </a:t>
            </a:r>
            <a:r>
              <a:rPr sz="1300">
                <a:solidFill>
                  <a:srgbClr val="94A3B8"/>
                </a:solidFill>
              </a:rPr>
              <a:t>The LLM cannot invent explanations or pretend knowledge about unindexed materials.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8FAFC"/>
                </a:solidFill>
              </a:rPr>
              <a:t>Granular Attribution: </a:t>
            </a:r>
            <a:r>
              <a:rPr sz="1300">
                <a:solidFill>
                  <a:srgbClr val="94A3B8"/>
                </a:solidFill>
              </a:rPr>
              <a:t>Every assertion is linked directly to course lecture notes for immediate academic verification.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8FAFC"/>
                </a:solidFill>
              </a:rPr>
              <a:t>Explicit Fallback Mechanism: </a:t>
            </a:r>
            <a:r>
              <a:rPr sz="1300">
                <a:solidFill>
                  <a:srgbClr val="94A3B8"/>
                </a:solidFill>
              </a:rPr>
              <a:t>Tested against historical and medical questions; reliably yields grounded refusals without evasive banter.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8FAFC"/>
                </a:solidFill>
              </a:rPr>
              <a:t>Token-Optimized Context: </a:t>
            </a:r>
            <a:r>
              <a:rPr sz="1300">
                <a:solidFill>
                  <a:srgbClr val="94A3B8"/>
                </a:solidFill>
              </a:rPr>
              <a:t>Top-K parameter limits prompt size, ensuring inference completes within 2-4 seconds on local GPUs.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LOCAL AI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Local LLM Inference with Ollama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Why Ollama?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100% Offline &amp; Private: Zero telemetry, zero external cloud dependencies.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GPU Acceleration: Automatic CUDA / Vulkan offloading for sub-second token generation.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Model Agnostic: Seamless switching between llama3:latest and phi3:mini via simple environment variable.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Production REST API: Clean HTTP client integration with configurable timeouts.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Llama 3 (8B) Capabilities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State-of-the-art reasoning and instruction following.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Strict adherence to negative constraints (refusal rules).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Exceptional synthetic summarization of technical CS concepts (operating systems, networking, databases).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2.2 GB quantized footprint fits comfortably on standard consumer GPUs.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ADE80"/>
                </a:solidFill>
              </a:defRPr>
            </a:pPr>
            <a:r>
              <a:t>Resilience &amp; Fallbacks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Health Endpoint Diagnostics: FastAPI continuously checks if Ollama service is reachable on port 11434.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Configurable Timeouts: Prevents hanging threads during heavy generation workloads.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Clean Error Handling: Returns structured 503 Service Unavailable when the model service is offline.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BACKEND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FastAPI Production Backend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Architectural Highlights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8FAFC"/>
                </a:solidFill>
              </a:rPr>
              <a:t>Lifespan Event Management: </a:t>
            </a:r>
            <a:r>
              <a:rPr sz="1300">
                <a:solidFill>
                  <a:srgbClr val="94A3B8"/>
                </a:solidFill>
              </a:rPr>
              <a:t>Loads heavy SentenceTransformer model and ChromaDB client once into application state at startup, eliminating cold-start per-query latency.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8FAFC"/>
                </a:solidFill>
              </a:rPr>
              <a:t>Pydantic Schema Validation: </a:t>
            </a:r>
            <a:r>
              <a:rPr sz="1300">
                <a:solidFill>
                  <a:srgbClr val="94A3B8"/>
                </a:solidFill>
              </a:rPr>
              <a:t>QueryRequest strictly validates question string (rejects empty/whitespace strings) and bounds top_k (1 to 10).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8FAFC"/>
                </a:solidFill>
              </a:rPr>
              <a:t>Cross-Origin Resource Sharing (CORS): </a:t>
            </a:r>
            <a:r>
              <a:rPr sz="1300">
                <a:solidFill>
                  <a:srgbClr val="94A3B8"/>
                </a:solidFill>
              </a:rPr>
              <a:t>Configurable middleware permits secure communication from Streamlit UI.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8FAFC"/>
                </a:solidFill>
              </a:rPr>
              <a:t>Structured Logging: </a:t>
            </a:r>
            <a:r>
              <a:rPr sz="1300">
                <a:solidFill>
                  <a:srgbClr val="94A3B8"/>
                </a:solidFill>
              </a:rPr>
              <a:t>Centralized logging capturing query latency, retrieved chunk counts, and model inference metrics.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REST API Endpoints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8FAFC"/>
                </a:solidFill>
              </a:rPr>
              <a:t>GET /health: </a:t>
            </a:r>
            <a:r>
              <a:rPr sz="1300">
                <a:solidFill>
                  <a:srgbClr val="94A3B8"/>
                </a:solidFill>
              </a:rPr>
              <a:t>Monitors ChromaDB collection, total chunk count, storage directory, and Ollama reachable status with model availability.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8FAFC"/>
                </a:solidFill>
              </a:rPr>
              <a:t>POST /query: </a:t>
            </a:r>
            <a:r>
              <a:rPr sz="1300">
                <a:solidFill>
                  <a:srgbClr val="94A3B8"/>
                </a:solidFill>
              </a:rPr>
              <a:t>Accepts {question, top_k}, retrieves semantic passages, invokes Ollama generation, and returns {answer, sources, model, retrieval_count}.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8FAFC"/>
                </a:solidFill>
              </a:rPr>
              <a:t>GET /docs &amp; /redoc: </a:t>
            </a:r>
            <a:r>
              <a:rPr sz="1300">
                <a:solidFill>
                  <a:srgbClr val="94A3B8"/>
                </a:solidFill>
              </a:rPr>
              <a:t>Interactive Swagger and ReDoc documentation for immediate interactive testing.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8FAFC"/>
                </a:solidFill>
              </a:rPr>
              <a:t>HTTP 422 Handling: </a:t>
            </a:r>
            <a:r>
              <a:rPr sz="1300">
                <a:solidFill>
                  <a:srgbClr val="94A3B8"/>
                </a:solidFill>
              </a:rPr>
              <a:t>Returns detailed validation error messages for invalid or malformed payloads.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USER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Streamlit Frontend User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Real-Time System Health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Live status pill in header displays connected backend status.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Diagnostic drawer shows indexed chunk count (45 chunks) and active LLM model.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Automatic reconnection banner if backend or Ollama server goes offline.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Conversational Chat Feed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Clean, intuitive chat history matching modern messaging standards.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Quick-start prompt chips for instant testing across all CS subjects.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Real-time typing spinner indicating vector search and generation progress.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ADE80"/>
                </a:solidFill>
              </a:defRPr>
            </a:pPr>
            <a:r>
              <a:t>Expandable Citation Cards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Every answer displays expandable badges for each cited document chunk.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Displays Document Name, Page Number, and Cosine Relevance Score.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Full excerpt preview allows students to verify answers against the original text.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EMPIRICAL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Evaluation Matrix &amp; Hallucination Resistance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Evaluation Query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Expected Document &amp; Page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Retrieval Quality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What are the four Coffman conditions for a deadlock?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cs102_operating_systems.pdf (P.3)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Top-1 (Score: 0.38)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DE80"/>
                          </a:solidFill>
                        </a:defRPr>
                      </a:pPr>
                      <a:r>
                        <a:t>PASSED (Grounded)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Explain the TCP 3-way handshake process.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cs104_computer_networks.pdf (P.2)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Top-1 (Score: 0.34)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DE80"/>
                          </a:solidFill>
                        </a:defRPr>
                      </a:pPr>
                      <a:r>
                        <a:t>PASSED (Grounded)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Difference between B-Tree and B+ Tree indexing?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cs103_database_acid_indexing.pdf (P.3)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Top-1 (Score: 0.36)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DE80"/>
                          </a:solidFill>
                        </a:defRPr>
                      </a:pPr>
                      <a:r>
                        <a:t>PASSED (Grounded)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Why does CPython employ a GIL and how does it affect CPU tasks?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cs105_python_concurrency.pdf (P.1)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Top-1 (Score: 0.32)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DE80"/>
                          </a:solidFill>
                        </a:defRPr>
                      </a:pPr>
                      <a:r>
                        <a:t>PASSED (Grounded)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What are the therapeutic indications for Metformin? (Out of Domain)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None (Unrelated Domain)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Filtered / Refused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DE80"/>
                          </a:solidFill>
                        </a:defRPr>
                      </a:pPr>
                      <a:r>
                        <a:t>PASSED (Refusal)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What were the causes of the French Revolution in 1789? (Out of Domain)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None (Unrelated Domain)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Filtered / Refused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ADE80"/>
                          </a:solidFill>
                        </a:defRPr>
                      </a:pPr>
                      <a:r>
                        <a:t>PASSED (Refusal)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TEST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Automated Testing &amp; Quality Assurance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50292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9 Passing Automated Tests (pytest)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4ADE80"/>
                </a:solidFill>
              </a:rPr>
              <a:t>✔ test_health_check_returns_200
</a:t>
            </a:r>
            <a:r>
              <a:rPr sz="1000">
                <a:solidFill>
                  <a:srgbClr val="94A3B8"/>
                </a:solidFill>
              </a:rPr>
              <a:t>   Verifies vector store initialization and LLM reachability status.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4ADE80"/>
                </a:solidFill>
              </a:rPr>
              <a:t>✔ test_query_missing_body_returns_422
</a:t>
            </a:r>
            <a:r>
              <a:rPr sz="1000">
                <a:solidFill>
                  <a:srgbClr val="94A3B8"/>
                </a:solidFill>
              </a:rPr>
              <a:t>   Ensures requests lacking a payload are rejected with 422 Unprocessable Entity.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4ADE80"/>
                </a:solidFill>
              </a:rPr>
              <a:t>✔ test_query_empty_string_returns_422
</a:t>
            </a:r>
            <a:r>
              <a:rPr sz="1000">
                <a:solidFill>
                  <a:srgbClr val="94A3B8"/>
                </a:solidFill>
              </a:rPr>
              <a:t>   Validates that empty string questions trigger Pydantic value errors.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4ADE80"/>
                </a:solidFill>
              </a:rPr>
              <a:t>✔ test_query_whitespace_only_returns_422
</a:t>
            </a:r>
            <a:r>
              <a:rPr sz="1000">
                <a:solidFill>
                  <a:srgbClr val="94A3B8"/>
                </a:solidFill>
              </a:rPr>
              <a:t>   Guards against questions containing only spaces/tabs.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4ADE80"/>
                </a:solidFill>
              </a:rPr>
              <a:t>✔ test_query_too_short_returns_422
</a:t>
            </a:r>
            <a:r>
              <a:rPr sz="1000">
                <a:solidFill>
                  <a:srgbClr val="94A3B8"/>
                </a:solidFill>
              </a:rPr>
              <a:t>   Enforces minimum character length requirements.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4ADE80"/>
                </a:solidFill>
              </a:rPr>
              <a:t>✔ test_query_invalid_top_k_returns_422
</a:t>
            </a:r>
            <a:r>
              <a:rPr sz="1000">
                <a:solidFill>
                  <a:srgbClr val="94A3B8"/>
                </a:solidFill>
              </a:rPr>
              <a:t>   Prevents memory exhaustion from excessive top_k parameters.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4ADE80"/>
                </a:solidFill>
              </a:rPr>
              <a:t>✔ test_query_happy_path_with_mocked_llm
</a:t>
            </a:r>
            <a:r>
              <a:rPr sz="1000">
                <a:solidFill>
                  <a:srgbClr val="94A3B8"/>
                </a:solidFill>
              </a:rPr>
              <a:t>   Tests complete retrieval-to-generation pipeline with mocked LLM.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4ADE80"/>
                </a:solidFill>
              </a:rPr>
              <a:t>✔ test_query_retrieves_correct_context
</a:t>
            </a:r>
            <a:r>
              <a:rPr sz="1000">
                <a:solidFill>
                  <a:srgbClr val="94A3B8"/>
                </a:solidFill>
              </a:rPr>
              <a:t>   Confirms ChromaDB vector search pulls relevant document chunks.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45920"/>
            <a:ext cx="493776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20840" y="1828800"/>
            <a:ext cx="44805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Testing Philosophy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F8FAFC"/>
                </a:solidFill>
              </a:rPr>
              <a:t>Fast Execution: </a:t>
            </a:r>
            <a:r>
              <a:rPr sz="1300">
                <a:solidFill>
                  <a:srgbClr val="94A3B8"/>
                </a:solidFill>
              </a:rPr>
              <a:t>Unit tests isolate external dependencies using HTTPX TestClient and mocked generation services, finishing in under 3 seconds.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F8FAFC"/>
                </a:solidFill>
              </a:rPr>
              <a:t>Regression Protection: </a:t>
            </a:r>
            <a:r>
              <a:rPr sz="1300">
                <a:solidFill>
                  <a:srgbClr val="94A3B8"/>
                </a:solidFill>
              </a:rPr>
              <a:t>Prevents breaking API contracts, schema drifts, or validation bugs before deployment.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F8FAFC"/>
                </a:solidFill>
              </a:rPr>
              <a:t>CI/CD Ready: </a:t>
            </a:r>
            <a:r>
              <a:rPr sz="1300">
                <a:solidFill>
                  <a:srgbClr val="94A3B8"/>
                </a:solidFill>
              </a:rPr>
              <a:t>Configured with backend/pytest.ini for headless pipeline execution.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DEVOPS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Containerization &amp; Multi-Service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Docker Multi-Container Setup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8FAFC"/>
                </a:solidFill>
              </a:rPr>
              <a:t>FastAPI Container (rag_backend): </a:t>
            </a:r>
            <a:r>
              <a:rPr sz="1300">
                <a:solidFill>
                  <a:srgbClr val="94A3B8"/>
                </a:solidFill>
              </a:rPr>
              <a:t>Packages Python 3.12 slim image, mounts persistent vector store, and maps port 8000.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8FAFC"/>
                </a:solidFill>
              </a:rPr>
              <a:t>Streamlit Container (rag_frontend): </a:t>
            </a:r>
            <a:r>
              <a:rPr sz="1300">
                <a:solidFill>
                  <a:srgbClr val="94A3B8"/>
                </a:solidFill>
              </a:rPr>
              <a:t>Serves the reactive UI on port 8501 with dependent startup on backend.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8FAFC"/>
                </a:solidFill>
              </a:rPr>
              <a:t>Host LLM Gateway: </a:t>
            </a:r>
            <a:r>
              <a:rPr sz="1300">
                <a:solidFill>
                  <a:srgbClr val="94A3B8"/>
                </a:solidFill>
              </a:rPr>
              <a:t>Leverages host.docker.internal:11434 to route LLM generation requests to host GPU-accelerated Ollama.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8FAFC"/>
                </a:solidFill>
              </a:rPr>
              <a:t>Persistent Volumes: </a:t>
            </a:r>
            <a:r>
              <a:rPr sz="1300">
                <a:solidFill>
                  <a:srgbClr val="94A3B8"/>
                </a:solidFill>
              </a:rPr>
              <a:t>Vector store volume mounting prevents indexing duplication inside containers.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One-Command Orchestration</a:t>
            </a:r>
          </a:p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# Build and start all services in isolated containers:</a:t>
            </a:r>
            <a:br/>
            <a:r>
              <a:t>docker compose up --build</a:t>
            </a:r>
            <a:br/>
            <a:br/>
            <a:r>
              <a:t># Services exposed:</a:t>
            </a:r>
            <a:br/>
            <a:r>
              <a:t>Frontend UI: http://localhost:8501</a:t>
            </a:r>
            <a:br/>
            <a:r>
              <a:t>Backend API: http://localhost:8000</a:t>
            </a:r>
            <a:br/>
            <a:r>
              <a:t>Swagger Docs: http://localhost:8000/docs</a:t>
            </a:r>
            <a:br/>
            <a:br/>
            <a:r>
              <a:t># Clean teardown:</a:t>
            </a:r>
            <a:br/>
            <a:r>
              <a:t>docker compose down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Future Enhancements &amp; Technical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Hybrid Search (Dense + Sparse)</a:t>
            </a:r>
          </a:p>
          <a:p>
            <a:pPr>
              <a:spcAft>
                <a:spcPts val="1200"/>
              </a:spcAft>
              <a:defRPr sz="1300">
                <a:solidFill>
                  <a:srgbClr val="94A3B8"/>
                </a:solidFill>
              </a:defRPr>
            </a:pPr>
            <a:r>
              <a:t>• Combine BM25 keyword matching with dense SentenceTransformer vectors.</a:t>
            </a:r>
          </a:p>
          <a:p>
            <a:pPr>
              <a:spcAft>
                <a:spcPts val="1200"/>
              </a:spcAft>
              <a:defRPr sz="1300">
                <a:solidFill>
                  <a:srgbClr val="94A3B8"/>
                </a:solidFill>
              </a:defRPr>
            </a:pPr>
            <a:r>
              <a:t>• Use Reciprocal Rank Fusion (RRF) to merge ranks.</a:t>
            </a:r>
          </a:p>
          <a:p>
            <a:pPr>
              <a:spcAft>
                <a:spcPts val="1200"/>
              </a:spcAft>
              <a:defRPr sz="1300">
                <a:solidFill>
                  <a:srgbClr val="94A3B8"/>
                </a:solidFill>
              </a:defRPr>
            </a:pPr>
            <a:r>
              <a:t>• Improves retrieval for exact keyword code snippets, variable names, and acronyms.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Cross-Encoder Re-Ranking</a:t>
            </a:r>
          </a:p>
          <a:p>
            <a:pPr>
              <a:spcAft>
                <a:spcPts val="1200"/>
              </a:spcAft>
              <a:defRPr sz="1300">
                <a:solidFill>
                  <a:srgbClr val="94A3B8"/>
                </a:solidFill>
              </a:defRPr>
            </a:pPr>
            <a:r>
              <a:t>• Introduce a two-stage retrieval pipeline with bge-reranker-large.</a:t>
            </a:r>
          </a:p>
          <a:p>
            <a:pPr>
              <a:spcAft>
                <a:spcPts val="1200"/>
              </a:spcAft>
              <a:defRPr sz="1300">
                <a:solidFill>
                  <a:srgbClr val="94A3B8"/>
                </a:solidFill>
              </a:defRPr>
            </a:pPr>
            <a:r>
              <a:t>• Re-ranks candidate Top-10 chunks down to Top-3 high-precision passages.</a:t>
            </a:r>
          </a:p>
          <a:p>
            <a:pPr>
              <a:spcAft>
                <a:spcPts val="1200"/>
              </a:spcAft>
              <a:defRPr sz="1300">
                <a:solidFill>
                  <a:srgbClr val="94A3B8"/>
                </a:solidFill>
              </a:defRPr>
            </a:pPr>
            <a:r>
              <a:t>• Significantly enhances complex comparative query answering.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ADE80"/>
                </a:solidFill>
              </a:defRPr>
            </a:pPr>
            <a:r>
              <a:t>Streaming Token Inference</a:t>
            </a:r>
          </a:p>
          <a:p>
            <a:pPr>
              <a:spcAft>
                <a:spcPts val="1200"/>
              </a:spcAft>
              <a:defRPr sz="1300">
                <a:solidFill>
                  <a:srgbClr val="94A3B8"/>
                </a:solidFill>
              </a:defRPr>
            </a:pPr>
            <a:r>
              <a:t>• Implement Server-Sent Events (SSE) in FastAPI backend.</a:t>
            </a:r>
          </a:p>
          <a:p>
            <a:pPr>
              <a:spcAft>
                <a:spcPts val="1200"/>
              </a:spcAft>
              <a:defRPr sz="1300">
                <a:solidFill>
                  <a:srgbClr val="94A3B8"/>
                </a:solidFill>
              </a:defRPr>
            </a:pPr>
            <a:r>
              <a:t>• Stream LLM tokens dynamically to Streamlit interface using st.write_stream.</a:t>
            </a:r>
          </a:p>
          <a:p>
            <a:pPr>
              <a:spcAft>
                <a:spcPts val="1200"/>
              </a:spcAft>
              <a:defRPr sz="1300">
                <a:solidFill>
                  <a:srgbClr val="94A3B8"/>
                </a:solidFill>
              </a:defRPr>
            </a:pPr>
            <a:r>
              <a:t>• Decreases perceived Time-To-First-Token (TTFT) to under 400 milliseconds.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00200" y="1463040"/>
            <a:ext cx="8988552" cy="20518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rPr dirty="0"/>
              <a:t>Project Summary &amp; Key Takeaways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4ADE80"/>
                </a:solidFill>
              </a:rPr>
              <a:t>✔ Complete End-to-End Delivery: </a:t>
            </a:r>
            <a:r>
              <a:rPr sz="1400" dirty="0">
                <a:solidFill>
                  <a:srgbClr val="F8FAFC"/>
                </a:solidFill>
              </a:rPr>
              <a:t>Engineered, tested, and validated all 5 phases of the production RAG requirements.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4ADE80"/>
                </a:solidFill>
              </a:rPr>
              <a:t>✔ Zero-Hallucination Grounding: </a:t>
            </a:r>
            <a:r>
              <a:rPr sz="1400" dirty="0">
                <a:solidFill>
                  <a:srgbClr val="F8FAFC"/>
                </a:solidFill>
              </a:rPr>
              <a:t>Strict prompt engineering forces the model to cite specific document pages and refuse out-of-domain queries.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4ADE80"/>
                </a:solidFill>
              </a:rPr>
              <a:t>✔ 100% Privacy-Preserving Architecture: </a:t>
            </a:r>
            <a:r>
              <a:rPr sz="1400" dirty="0">
                <a:solidFill>
                  <a:srgbClr val="F8FAFC"/>
                </a:solidFill>
              </a:rPr>
              <a:t>Zero external API keys, zero cloud egress, and complete on-premise execution.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4ADE80"/>
                </a:solidFill>
              </a:rPr>
              <a:t>✔ Production Engineering Standards: </a:t>
            </a:r>
            <a:r>
              <a:rPr sz="1400" dirty="0">
                <a:solidFill>
                  <a:srgbClr val="F8FAFC"/>
                </a:solidFill>
              </a:rPr>
              <a:t>Lifespan loading, persistent </a:t>
            </a:r>
            <a:r>
              <a:rPr sz="1400" dirty="0" err="1">
                <a:solidFill>
                  <a:srgbClr val="F8FAFC"/>
                </a:solidFill>
              </a:rPr>
              <a:t>ChromaDB</a:t>
            </a:r>
            <a:r>
              <a:rPr sz="1400" dirty="0">
                <a:solidFill>
                  <a:srgbClr val="F8FAFC"/>
                </a:solidFill>
              </a:rPr>
              <a:t> index, </a:t>
            </a:r>
            <a:r>
              <a:rPr sz="1400" dirty="0" err="1">
                <a:solidFill>
                  <a:srgbClr val="F8FAFC"/>
                </a:solidFill>
              </a:rPr>
              <a:t>Pydantic</a:t>
            </a:r>
            <a:r>
              <a:rPr sz="1400" dirty="0">
                <a:solidFill>
                  <a:srgbClr val="F8FAFC"/>
                </a:solidFill>
              </a:rPr>
              <a:t> validation, 9 automated tests, and Docker readiness.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2417</Words>
  <Application>Microsoft Office PowerPoint</Application>
  <PresentationFormat>Widescreen</PresentationFormat>
  <Paragraphs>201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Wassim</cp:lastModifiedBy>
  <cp:revision>1</cp:revision>
  <dcterms:created xsi:type="dcterms:W3CDTF">2013-01-27T09:14:16Z</dcterms:created>
  <dcterms:modified xsi:type="dcterms:W3CDTF">2026-09-20T17:25:12Z</dcterms:modified>
  <cp:category/>
</cp:coreProperties>
</file>